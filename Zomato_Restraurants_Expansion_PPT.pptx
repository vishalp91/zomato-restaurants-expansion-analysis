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26"/>
      <p:bold r:id="rId27"/>
    </p:embeddedFont>
    <p:embeddedFont>
      <p:font typeface="Comic Sans MS" panose="030F0702030302020204" pitchFamily="66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</p:embeddedFont>
    <p:embeddedFont>
      <p:font typeface="Lexend" panose="020B0604020202020204" charset="0"/>
      <p:regular r:id="rId33"/>
      <p:bold r:id="rId34"/>
    </p:embeddedFont>
    <p:embeddedFont>
      <p:font typeface="Source Code Pro" panose="020B0509030403020204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Pawar" userId="103c19d242368d72" providerId="LiveId" clId="{AC5A5CAA-F388-403F-BBC6-7A3BF4252B92}"/>
    <pc:docChg chg="custSel modSld">
      <pc:chgData name="Vishal Pawar" userId="103c19d242368d72" providerId="LiveId" clId="{AC5A5CAA-F388-403F-BBC6-7A3BF4252B92}" dt="2025-10-03T14:32:46.294" v="11" actId="20577"/>
      <pc:docMkLst>
        <pc:docMk/>
      </pc:docMkLst>
      <pc:sldChg chg="modSp mod">
        <pc:chgData name="Vishal Pawar" userId="103c19d242368d72" providerId="LiveId" clId="{AC5A5CAA-F388-403F-BBC6-7A3BF4252B92}" dt="2025-10-03T14:31:17.244" v="4" actId="207"/>
        <pc:sldMkLst>
          <pc:docMk/>
          <pc:sldMk cId="0" sldId="258"/>
        </pc:sldMkLst>
        <pc:spChg chg="mod">
          <ac:chgData name="Vishal Pawar" userId="103c19d242368d72" providerId="LiveId" clId="{AC5A5CAA-F388-403F-BBC6-7A3BF4252B92}" dt="2025-10-03T14:31:17.244" v="4" actId="207"/>
          <ac:spMkLst>
            <pc:docMk/>
            <pc:sldMk cId="0" sldId="258"/>
            <ac:spMk id="70" creationId="{00000000-0000-0000-0000-000000000000}"/>
          </ac:spMkLst>
        </pc:spChg>
      </pc:sldChg>
      <pc:sldChg chg="modSp mod">
        <pc:chgData name="Vishal Pawar" userId="103c19d242368d72" providerId="LiveId" clId="{AC5A5CAA-F388-403F-BBC6-7A3BF4252B92}" dt="2025-10-03T14:32:11.839" v="8" actId="207"/>
        <pc:sldMkLst>
          <pc:docMk/>
          <pc:sldMk cId="0" sldId="259"/>
        </pc:sldMkLst>
        <pc:spChg chg="mod">
          <ac:chgData name="Vishal Pawar" userId="103c19d242368d72" providerId="LiveId" clId="{AC5A5CAA-F388-403F-BBC6-7A3BF4252B92}" dt="2025-10-03T14:32:11.839" v="8" actId="207"/>
          <ac:spMkLst>
            <pc:docMk/>
            <pc:sldMk cId="0" sldId="259"/>
            <ac:spMk id="76" creationId="{00000000-0000-0000-0000-000000000000}"/>
          </ac:spMkLst>
        </pc:spChg>
        <pc:spChg chg="mod">
          <ac:chgData name="Vishal Pawar" userId="103c19d242368d72" providerId="LiveId" clId="{AC5A5CAA-F388-403F-BBC6-7A3BF4252B92}" dt="2025-10-03T14:31:44.952" v="6" actId="207"/>
          <ac:spMkLst>
            <pc:docMk/>
            <pc:sldMk cId="0" sldId="259"/>
            <ac:spMk id="77" creationId="{00000000-0000-0000-0000-000000000000}"/>
          </ac:spMkLst>
        </pc:spChg>
        <pc:spChg chg="mod">
          <ac:chgData name="Vishal Pawar" userId="103c19d242368d72" providerId="LiveId" clId="{AC5A5CAA-F388-403F-BBC6-7A3BF4252B92}" dt="2025-10-03T14:31:49.712" v="7" actId="207"/>
          <ac:spMkLst>
            <pc:docMk/>
            <pc:sldMk cId="0" sldId="259"/>
            <ac:spMk id="78" creationId="{00000000-0000-0000-0000-000000000000}"/>
          </ac:spMkLst>
        </pc:spChg>
      </pc:sldChg>
      <pc:sldChg chg="modSp mod">
        <pc:chgData name="Vishal Pawar" userId="103c19d242368d72" providerId="LiveId" clId="{AC5A5CAA-F388-403F-BBC6-7A3BF4252B92}" dt="2025-10-03T14:32:26.438" v="9" actId="20577"/>
        <pc:sldMkLst>
          <pc:docMk/>
          <pc:sldMk cId="0" sldId="262"/>
        </pc:sldMkLst>
        <pc:spChg chg="mod">
          <ac:chgData name="Vishal Pawar" userId="103c19d242368d72" providerId="LiveId" clId="{AC5A5CAA-F388-403F-BBC6-7A3BF4252B92}" dt="2025-10-03T14:32:26.438" v="9" actId="20577"/>
          <ac:spMkLst>
            <pc:docMk/>
            <pc:sldMk cId="0" sldId="262"/>
            <ac:spMk id="98" creationId="{00000000-0000-0000-0000-000000000000}"/>
          </ac:spMkLst>
        </pc:spChg>
      </pc:sldChg>
      <pc:sldChg chg="modSp mod">
        <pc:chgData name="Vishal Pawar" userId="103c19d242368d72" providerId="LiveId" clId="{AC5A5CAA-F388-403F-BBC6-7A3BF4252B92}" dt="2025-10-03T14:32:37.346" v="10" actId="1076"/>
        <pc:sldMkLst>
          <pc:docMk/>
          <pc:sldMk cId="0" sldId="263"/>
        </pc:sldMkLst>
        <pc:spChg chg="mod">
          <ac:chgData name="Vishal Pawar" userId="103c19d242368d72" providerId="LiveId" clId="{AC5A5CAA-F388-403F-BBC6-7A3BF4252B92}" dt="2025-10-03T14:32:37.346" v="10" actId="1076"/>
          <ac:spMkLst>
            <pc:docMk/>
            <pc:sldMk cId="0" sldId="263"/>
            <ac:spMk id="107" creationId="{00000000-0000-0000-0000-000000000000}"/>
          </ac:spMkLst>
        </pc:spChg>
      </pc:sldChg>
      <pc:sldChg chg="modSp mod">
        <pc:chgData name="Vishal Pawar" userId="103c19d242368d72" providerId="LiveId" clId="{AC5A5CAA-F388-403F-BBC6-7A3BF4252B92}" dt="2025-10-03T14:32:46.294" v="11" actId="20577"/>
        <pc:sldMkLst>
          <pc:docMk/>
          <pc:sldMk cId="0" sldId="264"/>
        </pc:sldMkLst>
        <pc:spChg chg="mod">
          <ac:chgData name="Vishal Pawar" userId="103c19d242368d72" providerId="LiveId" clId="{AC5A5CAA-F388-403F-BBC6-7A3BF4252B92}" dt="2025-10-03T14:32:46.294" v="11" actId="20577"/>
          <ac:spMkLst>
            <pc:docMk/>
            <pc:sldMk cId="0" sldId="264"/>
            <ac:spMk id="1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b65669d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b65669d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eaf35b9d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eaf35b9d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eaf35b9d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eaf35b9d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181986b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181986b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b65669d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fb65669d0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81986b2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81986b2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eaf35b9d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eaf35b9d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181986b2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181986b2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181986b2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181986b2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81986b2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181986b2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89b5ad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189b5ad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189b5adb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189b5adb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189b5adb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189b5adb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189b5adb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189b5adb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89b5adb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89b5adb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189b5adb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189b5adb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189b5adb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189b5adb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1910fded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1910fded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1910fded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1910fded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1910fded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1910fded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1910fded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1910fded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eaf35b9d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eaf35b9d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entationload.com/blog/storytelling-in-ppt-presentations/" TargetMode="External"/><Relationship Id="rId7" Type="http://schemas.openxmlformats.org/officeDocument/2006/relationships/hyperlink" Target="https://support.google.com/docs/answer/9169324?hl=en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zomato.com/about" TargetMode="External"/><Relationship Id="rId5" Type="http://schemas.openxmlformats.org/officeDocument/2006/relationships/hyperlink" Target="https://www.analyticsvidhya.com/blog/2021/09/how-to-create-stunning-and-interactive-dashboards-in-excel/" TargetMode="External"/><Relationship Id="rId4" Type="http://schemas.openxmlformats.org/officeDocument/2006/relationships/hyperlink" Target="https://cubesinfotech.com/zomato-business-model-how-does-zomato-make-money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-280725" y="13938"/>
            <a:ext cx="5105700" cy="360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800" dirty="0">
                <a:solidFill>
                  <a:srgbClr val="FF0000"/>
                </a:solidFill>
              </a:rPr>
              <a:t>Z</a:t>
            </a:r>
            <a:r>
              <a:rPr lang="en" sz="5900" dirty="0">
                <a:solidFill>
                  <a:srgbClr val="FF0000"/>
                </a:solidFill>
              </a:rPr>
              <a:t>omato Restaurants Expansion</a:t>
            </a:r>
            <a:endParaRPr sz="5900" dirty="0">
              <a:solidFill>
                <a:srgbClr val="FF0000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2019150" y="3680750"/>
            <a:ext cx="5105700" cy="94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rPr>
              <a:t>By</a:t>
            </a:r>
            <a:r>
              <a:rPr lang="en" sz="26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rPr>
              <a:t> </a:t>
            </a:r>
            <a:endParaRPr sz="2600">
              <a:solidFill>
                <a:schemeClr val="lt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Amatic SC"/>
                <a:ea typeface="Amatic SC"/>
                <a:cs typeface="Amatic SC"/>
                <a:sym typeface="Amatic SC"/>
              </a:rPr>
              <a:t>Vishal Pawar</a:t>
            </a:r>
            <a:endParaRPr sz="2600">
              <a:solidFill>
                <a:schemeClr val="lt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58" name="Google Shape;58;p13" title="Zomato_Pic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70588"/>
            <a:ext cx="4419600" cy="2489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038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</a:t>
            </a: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Z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O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M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O</a:t>
            </a:r>
            <a:endParaRPr sz="4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 b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Works</a:t>
            </a:r>
            <a:endParaRPr sz="2020" b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572000" y="4402075"/>
            <a:ext cx="4138800" cy="4230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endParaRPr sz="15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5" name="Google Shape;65;p14" title="Zomato_business_model.jpg"/>
          <p:cNvPicPr preferRelativeResize="0"/>
          <p:nvPr/>
        </p:nvPicPr>
        <p:blipFill rotWithShape="1">
          <a:blip r:embed="rId3">
            <a:alphaModFix/>
          </a:blip>
          <a:srcRect t="9057"/>
          <a:stretch/>
        </p:blipFill>
        <p:spPr>
          <a:xfrm>
            <a:off x="1003823" y="0"/>
            <a:ext cx="81401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8537700" cy="17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Problem Statement</a:t>
            </a:r>
            <a:br>
              <a:rPr lang="en" sz="3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</a:br>
            <a:endParaRPr sz="3000" dirty="0">
              <a:solidFill>
                <a:schemeClr val="accent1">
                  <a:lumMod val="75000"/>
                  <a:lumOff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dirty="0">
                <a:solidFill>
                  <a:schemeClr val="accent1">
                    <a:lumMod val="75000"/>
                    <a:lumOff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You are hired as a consultant data analyst by zomato where the team is looking for expansion and</a:t>
            </a:r>
            <a:r>
              <a:rPr lang="en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 b="0" dirty="0">
                <a:solidFill>
                  <a:schemeClr val="accent1">
                    <a:lumMod val="75000"/>
                    <a:lumOff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opening restaurants. Your task is to come up with strategies/suggestions about opening newer restaurants.</a:t>
            </a:r>
            <a:endParaRPr sz="1400" dirty="0">
              <a:solidFill>
                <a:schemeClr val="accent1">
                  <a:lumMod val="75000"/>
                  <a:lumOff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02" y="1803300"/>
            <a:ext cx="8882493" cy="33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90100" y="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Data dictionary</a:t>
            </a:r>
            <a:endParaRPr sz="30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0" y="983700"/>
            <a:ext cx="4311600" cy="4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Restaurant ID: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Unique identifier for each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Restaurant Name: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name of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CountryCode: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Country code of the location where the restaurant is situated.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City: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city where the restaurant is located.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Address: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specific address of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Locality: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locality or neighborhood where the restaurant is situated.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Locality Verbose: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Detailed information about the locality.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Longitude: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geographical longitude coordinate of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Latitude: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geographical latitude coordinate of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Cuisines: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type of cuisine offered by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Currency: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currency used for transactions in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2"/>
          </p:nvPr>
        </p:nvSpPr>
        <p:spPr>
          <a:xfrm>
            <a:off x="4832400" y="983700"/>
            <a:ext cx="4311600" cy="42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Has_Table_booking: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Indicates whether the restaurant has a table booking option (Yes/No).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Has_Online_delivery: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Indicates whether the restaurant offers online delivery (Yes/No).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Is_delivering_now: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Indicates whether the restaurant is currently delivering (Yes/No).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Switch_to_order_menu: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Indicates whether users can switch to the order menu (Yes/No).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Price_range: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A numeric value indicating the price range category of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Votes: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number of votes or ratings/(feedback) received by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Average_Cost_for_two: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average cost for two people dining at the restaurant.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Rating: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overall rating of the restaurant is based on user reviews.</a:t>
            </a:r>
            <a:endParaRPr sz="1200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Char char="●"/>
            </a:pPr>
            <a:r>
              <a:rPr lang="en" sz="1200" b="1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Datekey_opening: </a:t>
            </a:r>
            <a:r>
              <a:rPr lang="en" sz="1200" dirty="0">
                <a:solidFill>
                  <a:schemeClr val="tx2">
                    <a:lumMod val="25000"/>
                  </a:schemeClr>
                </a:solidFill>
                <a:latin typeface="Lexend"/>
                <a:ea typeface="Lexend"/>
                <a:cs typeface="Lexend"/>
                <a:sym typeface="Lexend"/>
              </a:rPr>
              <a:t>The date when the restaurant was opened.</a:t>
            </a:r>
            <a:endParaRPr sz="1200" b="1" dirty="0">
              <a:solidFill>
                <a:schemeClr val="tx2">
                  <a:lumMod val="25000"/>
                </a:schemeClr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500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-22500" y="297138"/>
            <a:ext cx="9144000" cy="961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 b="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Data Overview</a:t>
            </a:r>
            <a:endParaRPr sz="30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991838"/>
            <a:ext cx="8475600" cy="4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Total Number of restaurants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9551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restaurants.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Total Countries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countries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Geographical Information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Columns like City, Address, Locality, Locality Verbose, Longitude, Latitude provides geographical information of the restaurants.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Services Offered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Cuisines, Table Booking, Online delivery, Average Cost for two people helps understand the services available in the restaurants.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600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Quality Inference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Price_range and Rating gives idea about the customer feedback and indicates popularity of the restaurants.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1679700" y="244950"/>
            <a:ext cx="7278300" cy="944400"/>
          </a:xfrm>
          <a:prstGeom prst="rect">
            <a:avLst/>
          </a:prstGeom>
          <a:solidFill>
            <a:srgbClr val="EA9999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Primary objectives of the project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942150" y="1572775"/>
            <a:ext cx="5825700" cy="3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mic Sans MS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Identify countries, and cities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suitable for opening new restaurants.</a:t>
            </a:r>
            <a:b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mic Sans MS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Analyze restaurant performance metrics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(ratings, votes, price range, cuisines).</a:t>
            </a:r>
            <a:b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mic Sans MS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Assess online delivery and table booking impacts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on customer ratings.</a:t>
            </a:r>
            <a:b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302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mic Sans MS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Provide strategic recommendations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supported by dashboards, pivots, and visuals for restaurant expansion.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0"/>
            <a:ext cx="15588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53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2450" y="336350"/>
            <a:ext cx="5124600" cy="801000"/>
          </a:xfrm>
          <a:prstGeom prst="rect">
            <a:avLst/>
          </a:prstGeom>
          <a:solidFill>
            <a:srgbClr val="D9D9D9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Analytical approach and tools</a:t>
            </a:r>
            <a:endParaRPr sz="27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8032500" y="0"/>
            <a:ext cx="1111500" cy="51435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 b="1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2"/>
          </p:nvPr>
        </p:nvSpPr>
        <p:spPr>
          <a:xfrm>
            <a:off x="274050" y="1228800"/>
            <a:ext cx="7362000" cy="39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Comic Sans MS"/>
              <a:buChar char="●"/>
            </a:pPr>
            <a:r>
              <a:rPr lang="en" sz="1500" b="1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Data Cleaning</a:t>
            </a:r>
            <a:r>
              <a:rPr lang="en" sz="1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Used function like LEFT, VALUE, MID, COUNTBLANK and Remove Duplicates and imputed NULL values to ensure data quality and accuracy.</a:t>
            </a:r>
            <a:endParaRPr sz="15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Comic Sans MS"/>
              <a:buChar char="●"/>
            </a:pPr>
            <a:r>
              <a:rPr lang="en" sz="1500" b="1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Data Enrichment</a:t>
            </a:r>
            <a:r>
              <a:rPr lang="en" sz="1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Utilized VLOOKUP function to extract country for specified Country code.</a:t>
            </a:r>
            <a:endParaRPr sz="15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Comic Sans MS"/>
              <a:buChar char="●"/>
            </a:pPr>
            <a:r>
              <a:rPr lang="en" sz="1500" b="1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Descriptive Analysis</a:t>
            </a:r>
            <a:r>
              <a:rPr lang="en" sz="1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Used Pivot Tables to summarize the data by country, cities, cuisines, price and rating, etc.</a:t>
            </a:r>
            <a:endParaRPr sz="15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Comic Sans MS"/>
              <a:buChar char="●"/>
            </a:pPr>
            <a:r>
              <a:rPr lang="en" sz="1500" b="1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Helper Columns</a:t>
            </a:r>
            <a:r>
              <a:rPr lang="en" sz="1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Added Opening_year column and Average_Cost_INR column for fair analysis in future.</a:t>
            </a:r>
            <a:endParaRPr sz="15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385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500"/>
              <a:buFont typeface="Comic Sans MS"/>
              <a:buChar char="●"/>
            </a:pPr>
            <a:r>
              <a:rPr lang="en" sz="1500" b="1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Visualization</a:t>
            </a:r>
            <a:r>
              <a:rPr lang="en" sz="1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Plotted charts based on the Pivot tables to gather data driven insights for the analysis</a:t>
            </a:r>
            <a:r>
              <a:rPr lang="en" sz="1500" dirty="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sz="1500" dirty="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9" name="Google Shape;99;p19" title="Zomato_Pic5.jpg"/>
          <p:cNvPicPr preferRelativeResize="0"/>
          <p:nvPr/>
        </p:nvPicPr>
        <p:blipFill rotWithShape="1">
          <a:blip r:embed="rId3">
            <a:alphaModFix/>
          </a:blip>
          <a:srcRect l="69" r="79"/>
          <a:stretch/>
        </p:blipFill>
        <p:spPr>
          <a:xfrm>
            <a:off x="5211583" y="53950"/>
            <a:ext cx="2424474" cy="13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454825" y="245275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 b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Number of restaurants across countries : 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0" y="1046275"/>
            <a:ext cx="9144000" cy="40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000">
              <a:solidFill>
                <a:srgbClr val="000000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25" y="1256050"/>
            <a:ext cx="5394450" cy="30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5854825" y="990194"/>
            <a:ext cx="3120600" cy="3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The chart shows the number of restaurants in each country with its average rating.</a:t>
            </a:r>
            <a:endParaRPr sz="18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This chart helps understand the restaurant density across each country.</a:t>
            </a:r>
            <a:endParaRPr sz="18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4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Canada has least restaurants whereas India with highest number of restaurants</a:t>
            </a:r>
            <a:r>
              <a:rPr lang="en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74450" y="329300"/>
            <a:ext cx="8520600" cy="801000"/>
          </a:xfrm>
          <a:prstGeom prst="rect">
            <a:avLst/>
          </a:prstGeom>
          <a:solidFill>
            <a:srgbClr val="EA9999"/>
          </a:solidFill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Number of restaurants per year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045325"/>
            <a:ext cx="8520600" cy="3600900"/>
          </a:xfrm>
          <a:prstGeom prst="rect">
            <a:avLst/>
          </a:prstGeom>
          <a:solidFill>
            <a:srgbClr val="EA9999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18288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613" y="1587725"/>
            <a:ext cx="5305425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311700" y="1501025"/>
            <a:ext cx="2948100" cy="3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The column chart showcases the number of restaurants opened each year.</a:t>
            </a:r>
            <a:endParaRPr sz="18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Every year 1000+ new restaurants are opened.</a:t>
            </a:r>
            <a:endParaRPr sz="18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This tells us about the positive growth in the field.</a:t>
            </a:r>
            <a:endParaRPr sz="18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Average Rating of restaurants across countries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r="1487"/>
          <a:stretch/>
        </p:blipFill>
        <p:spPr>
          <a:xfrm>
            <a:off x="143100" y="1365550"/>
            <a:ext cx="5084450" cy="3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697900" y="1365550"/>
            <a:ext cx="3144600" cy="3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Rating is one of the most fundamental metrics considered for the analysis.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Countries with high average ratings shows high customer satisfaction. 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Example : Philippines, Indonesia, Qatar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Average number of voters across countries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222300" cy="37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Another metric which shows high customer engagement is average number of voters.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High Average : Indonesia, UAE, Turkey, USA, Philippines.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Low Average : Brazil, Singapore. 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750" y="1553913"/>
            <a:ext cx="5305200" cy="312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275950" y="0"/>
            <a:ext cx="8365800" cy="5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Suitable cities for opening new restaurants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86725" y="466050"/>
            <a:ext cx="8555100" cy="4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Canada : Chatham-kent, consort, Yorkton, Vinland station.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Indonesia : Bandung, Bogor, Tangerang.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Philippines : Makati city, Pasay city, Pasig city, Quezon city, etc.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Singapore city, Doha, and Colombo city from Singapore, Qatar and Sri Lanka respectively.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499" y="2571750"/>
            <a:ext cx="6110729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Average Expenditure on Food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4465250" y="1290850"/>
            <a:ext cx="4678800" cy="3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Singapore spends most on the food with 13,675 INR, making it the top choice for expansion.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Followed by Philippines, where the team can consider to invest more.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Canada and Qatar falls in the mid range category in terms of expenditure on food.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While Indonesia and Sri Lanka spends the least on food.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00" y="1588800"/>
            <a:ext cx="4380751" cy="265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Top 10 cuisines 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4294967295"/>
          </p:nvPr>
        </p:nvSpPr>
        <p:spPr>
          <a:xfrm>
            <a:off x="233300" y="1421600"/>
            <a:ext cx="4260300" cy="3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As the India has highest number of restaurants North Indian Food tops the list available in 945 restaurants.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Combination of North Indian and Chinese food is served in 511 restaurants.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Font typeface="Lexend"/>
              <a:buChar char="●"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Whereas street food stands at 10th position in the list.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785800"/>
            <a:ext cx="4267201" cy="2568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Online delivery and Table booking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3">
            <a:alphaModFix/>
          </a:blip>
          <a:srcRect l="10104"/>
          <a:stretch/>
        </p:blipFill>
        <p:spPr>
          <a:xfrm>
            <a:off x="0" y="2876775"/>
            <a:ext cx="1585250" cy="23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1783" y="2772100"/>
            <a:ext cx="1402217" cy="23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684600" y="1214775"/>
            <a:ext cx="7778100" cy="1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Majority of restaurants don’t offer online delivery and table bookings.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But those who offer, receive a higher rating.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6275" y="4182575"/>
            <a:ext cx="41719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3950" y="3208500"/>
            <a:ext cx="40957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Relation between Price and Rating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8"/>
          <p:cNvSpPr txBox="1">
            <a:spLocks noGrp="1"/>
          </p:cNvSpPr>
          <p:nvPr>
            <p:ph type="body" idx="1"/>
          </p:nvPr>
        </p:nvSpPr>
        <p:spPr>
          <a:xfrm>
            <a:off x="311700" y="1281475"/>
            <a:ext cx="3708300" cy="39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There’s a positive correlation between the price of cuisines and rating of the restaurants.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High price range cuisines grab higher ratings.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Whereas Low price range restaurants get lower average ratings.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Thus prioritizing high price range cuisines is recommended.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825" y="1844087"/>
            <a:ext cx="4335775" cy="25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9999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311700" y="118875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Price Range Distribution across countries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9"/>
          <p:cNvSpPr txBox="1">
            <a:spLocks noGrp="1"/>
          </p:cNvSpPr>
          <p:nvPr>
            <p:ph type="body" idx="1"/>
          </p:nvPr>
        </p:nvSpPr>
        <p:spPr>
          <a:xfrm>
            <a:off x="311700" y="993900"/>
            <a:ext cx="3999900" cy="4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9144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2"/>
          </p:nvPr>
        </p:nvSpPr>
        <p:spPr>
          <a:xfrm>
            <a:off x="5117775" y="919875"/>
            <a:ext cx="3714600" cy="41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India and United States of America are having maximum number of restaurants that offer lower price range food.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Qatar, Singapore, South Africa, Philippines have high price range cuisines focus.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Whereas majority of countries have food in the price range 3.</a:t>
            </a:r>
            <a:endParaRPr sz="18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45400"/>
            <a:ext cx="4913925" cy="32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>
            <a:spLocks noGrp="1"/>
          </p:cNvSpPr>
          <p:nvPr>
            <p:ph type="title"/>
          </p:nvPr>
        </p:nvSpPr>
        <p:spPr>
          <a:xfrm>
            <a:off x="311700" y="282725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exend"/>
                <a:ea typeface="Lexend"/>
                <a:cs typeface="Lexend"/>
                <a:sym typeface="Lexend"/>
              </a:rPr>
              <a:t>Strategic recommendations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1"/>
          </p:nvPr>
        </p:nvSpPr>
        <p:spPr>
          <a:xfrm>
            <a:off x="0" y="1254875"/>
            <a:ext cx="9201900" cy="38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6228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Char char="●"/>
            </a:pP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Canada, Qatar, Singapore, Sri Lanka, Indonesia and Philippines</a:t>
            </a: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are the most suitable countries for opening new restaurants as less number of restaurants are there which gives us less competitive edge.</a:t>
            </a:r>
            <a:endParaRPr sz="1537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26228" algn="just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Lexend"/>
              <a:buChar char="●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Following cities within above suggested countries are to be considered for opening new restaurants.</a:t>
            </a:r>
            <a:endParaRPr sz="1537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Canada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Chatham-kent, Consort, Vinland Station, Yorkton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Qatar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Doha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Singapore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Singapore city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Sri Lanka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Colombo city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Indonesia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Bandung, Bogor, Tangerang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26228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37"/>
              <a:buFont typeface="Comic Sans MS"/>
              <a:buAutoNum type="arabicPeriod"/>
            </a:pPr>
            <a:r>
              <a:rPr lang="en" sz="1537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Philippines</a:t>
            </a:r>
            <a:r>
              <a:rPr lang="en" sz="1537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: Makati City, Mandaluyong City, Pasay City, Pasig City, Quezon City, San Juan City, Santa Rosa, Tagaytay City, Taguig City</a:t>
            </a:r>
            <a:endParaRPr sz="1537" b="1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1262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1262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title"/>
          </p:nvPr>
        </p:nvSpPr>
        <p:spPr>
          <a:xfrm>
            <a:off x="311700" y="17400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exend"/>
                <a:ea typeface="Lexend"/>
                <a:cs typeface="Lexend"/>
                <a:sym typeface="Lexend"/>
              </a:rPr>
              <a:t>Strategic recommendations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body" idx="1"/>
          </p:nvPr>
        </p:nvSpPr>
        <p:spPr>
          <a:xfrm>
            <a:off x="121800" y="1320125"/>
            <a:ext cx="8906100" cy="37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omic Sans MS"/>
              <a:buChar char="●"/>
            </a:pP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Management can make high financial expenditure in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Qatar, Philippines and Singapore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based on the above chart.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omic Sans MS"/>
              <a:buChar char="●"/>
            </a:pP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But cost controlled solutions need to be implemented in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Sri Lanka, Indonesia and Canada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omic Sans MS"/>
              <a:buChar char="●"/>
            </a:pP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Japanese, American, Filipino, Desserts, Korean, Asian 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are the most popular cuisines which we need to focus on in our new restaurants.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302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omic Sans MS"/>
              <a:buChar char="●"/>
            </a:pP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Both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Online delivery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Table booking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services directly affect the customer ratings thus these services should be offered in new restaurants in order to get higher customer engagement.</a:t>
            </a:r>
            <a:endParaRPr sz="16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4290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The team </a:t>
            </a:r>
            <a:r>
              <a:rPr lang="en" sz="1600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should keep the rate of cuisines higher</a:t>
            </a:r>
            <a:r>
              <a:rPr lang="en" sz="16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because that positively affects the feedback</a:t>
            </a:r>
            <a:r>
              <a:rPr lang="en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just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3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30" b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Dashboard</a:t>
            </a:r>
            <a:endParaRPr sz="3630" b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32" title="Screenshot 2025-09-30 215807.png"/>
          <p:cNvPicPr preferRelativeResize="0"/>
          <p:nvPr/>
        </p:nvPicPr>
        <p:blipFill rotWithShape="1">
          <a:blip r:embed="rId3">
            <a:alphaModFix/>
          </a:blip>
          <a:srcRect l="1776" t="4145" r="1155" b="4755"/>
          <a:stretch/>
        </p:blipFill>
        <p:spPr>
          <a:xfrm>
            <a:off x="0" y="831762"/>
            <a:ext cx="9144001" cy="410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Conclusion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4520700" cy="38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ic Sans MS"/>
              <a:buChar char="●"/>
            </a:pPr>
            <a:r>
              <a:rPr lang="en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Low-competition markets</a:t>
            </a: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—Canada, Qatar, Singapore, Sri Lanka, and Indonesia and Philippines—present the strongest opportunities for Zomato’s expansion.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ic Sans MS"/>
              <a:buChar char="●"/>
            </a:pPr>
            <a:r>
              <a:rPr lang="en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High-rated cuisines</a:t>
            </a: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balanced pricing</a:t>
            </a: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in these markets can drive customer engagement and sustainable growth.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omic Sans MS"/>
              <a:buChar char="●"/>
            </a:pPr>
            <a:r>
              <a:rPr lang="en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Online delivery and table booking</a:t>
            </a: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significantly boost customer satisfaction and should be prioritized in new outlets.</a:t>
            </a:r>
            <a:endParaRPr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n" b="1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Closing Statement:</a:t>
            </a:r>
            <a:r>
              <a:rPr lang="en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This data-driven strategy equips Zomato to expand intelligently, minimize risk, and strengthen its global market presenc</a:t>
            </a:r>
            <a:r>
              <a:rPr lang="en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33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8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“A small Zomato outlet opened in a quiet Singapore neighborhood two years ago. With thoughtful pricing, popular local cuisines, and seamless online delivery, it quickly became a community favorite—proof that the right place, the right features, and the right strategy turn opportunities into success. These insights guide Zomato to replicate that story across new markets.”</a:t>
            </a:r>
            <a:endParaRPr sz="1300" i="1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1" name="Google Shape;201;p33" title="Screenshot 2025-04-08 0830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1200" y="3777700"/>
            <a:ext cx="2246450" cy="12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References</a:t>
            </a: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34"/>
          <p:cNvSpPr txBox="1">
            <a:spLocks noGrp="1"/>
          </p:cNvSpPr>
          <p:nvPr>
            <p:ph type="body" idx="1"/>
          </p:nvPr>
        </p:nvSpPr>
        <p:spPr>
          <a:xfrm>
            <a:off x="1856050" y="1228675"/>
            <a:ext cx="6241200" cy="33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omic Sans MS"/>
              <a:buChar char="●"/>
            </a:pPr>
            <a:r>
              <a:rPr lang="en" u="sng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Cool Article to do effective story telling</a:t>
            </a:r>
            <a:endParaRPr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omic Sans MS"/>
              <a:buChar char="●"/>
            </a:pPr>
            <a:r>
              <a:rPr lang="en" u="sng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Zomato Business Model</a:t>
            </a:r>
            <a:endParaRPr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omic Sans MS"/>
              <a:buChar char="●"/>
            </a:pPr>
            <a:r>
              <a:rPr lang="en" u="sng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Building Interactive dashboards</a:t>
            </a:r>
            <a:endParaRPr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Comic Sans MS"/>
              <a:buChar char="●"/>
            </a:pPr>
            <a:r>
              <a:rPr lang="en" u="sng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Zomato Company Information and Global Operations</a:t>
            </a:r>
            <a:endParaRPr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457200" lvl="0" indent="-342900" algn="just" rtl="0">
              <a:spcBef>
                <a:spcPts val="1000"/>
              </a:spcBef>
              <a:spcAft>
                <a:spcPts val="1000"/>
              </a:spcAft>
              <a:buClr>
                <a:srgbClr val="434343"/>
              </a:buClr>
              <a:buSzPts val="1800"/>
              <a:buFont typeface="Comic Sans MS"/>
              <a:buChar char="●"/>
            </a:pPr>
            <a:r>
              <a:rPr lang="en" u="sng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Workplace Learning Center</a:t>
            </a:r>
            <a:endParaRPr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>
            <a:spLocks noGrp="1"/>
          </p:cNvSpPr>
          <p:nvPr>
            <p:ph type="title"/>
          </p:nvPr>
        </p:nvSpPr>
        <p:spPr>
          <a:xfrm>
            <a:off x="398875" y="920800"/>
            <a:ext cx="8537700" cy="31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latin typeface="Lexend"/>
                <a:ea typeface="Lexend"/>
                <a:cs typeface="Lexend"/>
                <a:sym typeface="Lexend"/>
              </a:rPr>
              <a:t>Thank You</a:t>
            </a:r>
            <a:endParaRPr sz="7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CCCCCC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Microsoft Office PowerPoint</Application>
  <PresentationFormat>On-screen Show (16:9)</PresentationFormat>
  <Paragraphs>145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Lexend</vt:lpstr>
      <vt:lpstr>Amatic SC</vt:lpstr>
      <vt:lpstr>Source Code Pro</vt:lpstr>
      <vt:lpstr>Comic Sans MS</vt:lpstr>
      <vt:lpstr>Lato</vt:lpstr>
      <vt:lpstr>Beach Day</vt:lpstr>
      <vt:lpstr>Zomato Restaurants Expansion</vt:lpstr>
      <vt:lpstr>How  Z O M A T O Works</vt:lpstr>
      <vt:lpstr>Problem Statement  You are hired as a consultant data analyst by zomato where the team is looking for expansion and opening restaurants. Your task is to come up with strategies/suggestions about opening newer restaurants.</vt:lpstr>
      <vt:lpstr>Data dictionary</vt:lpstr>
      <vt:lpstr>Data Overview</vt:lpstr>
      <vt:lpstr>Primary objectives of the project</vt:lpstr>
      <vt:lpstr>Analytical approach and tools </vt:lpstr>
      <vt:lpstr>Number of restaurants across countries : </vt:lpstr>
      <vt:lpstr>Number of restaurants per year</vt:lpstr>
      <vt:lpstr>Average Rating of restaurants across countries</vt:lpstr>
      <vt:lpstr>Average number of voters across countries </vt:lpstr>
      <vt:lpstr>Suitable cities for opening new restaurants   </vt:lpstr>
      <vt:lpstr>Average Expenditure on Food</vt:lpstr>
      <vt:lpstr>Top 10 cuisines </vt:lpstr>
      <vt:lpstr>Online delivery and Table booking</vt:lpstr>
      <vt:lpstr>Relation between Price and Rating</vt:lpstr>
      <vt:lpstr>Price Range Distribution across countries</vt:lpstr>
      <vt:lpstr>Strategic recommendations</vt:lpstr>
      <vt:lpstr>Strategic recommendations</vt:lpstr>
      <vt:lpstr>Dashboard</vt:lpstr>
      <vt:lpstr>Conclusion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Vishal Pawar</cp:lastModifiedBy>
  <cp:revision>1</cp:revision>
  <dcterms:modified xsi:type="dcterms:W3CDTF">2025-10-03T14:33:07Z</dcterms:modified>
</cp:coreProperties>
</file>